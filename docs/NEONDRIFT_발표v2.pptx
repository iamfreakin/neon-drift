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8"/>
          </a:xfrm>
          <a:prstGeom prst="rect">
            <a:avLst/>
          </a:prstGeom>
          <a:solidFill>
            <a:srgbClr val="00F0FF">
              <a:alpha val="40000"/>
            </a:srgbClr>
          </a:solidFill>
          <a:ln w="12700">
            <a:solidFill>
              <a:srgbClr val="00F0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00F0FF"/>
                </a:solidFill>
              </a:rPr>
              <a:t>NEON DRIFT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3일 스프린트, 블루프린트 0%, 순수 C++ 아케이드 디펜스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9090A8"/>
                </a:solidFill>
              </a:rPr>
              <a:t>Unreal Engine 5.8  ·  C++20  ·  Solo Dev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4480560"/>
            <a:ext cx="2743200" cy="45720"/>
          </a:xfrm>
          <a:prstGeom prst="rect">
            <a:avLst/>
          </a:prstGeom>
          <a:solidFill>
            <a:srgbClr val="FF2FD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0FF"/>
                </a:solidFill>
              </a:rPr>
              <a:t>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왜 블루프린트를 버렸나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8321040" cy="22860"/>
          </a:xfrm>
          <a:prstGeom prst="rect">
            <a:avLst/>
          </a:prstGeom>
          <a:solidFill>
            <a:srgbClr val="00F0FF">
              <a:alpha val="45000"/>
            </a:srgbClr>
          </a:solidFill>
          <a:ln w="12700">
            <a:solidFill>
              <a:srgbClr val="00F0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08760"/>
            <a:ext cx="2651760" cy="246888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384048" cy="38404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5179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</a:rPr>
              <a:t>버전 관리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" y="235915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블루프린트 에셋은 바이너리 — Git diff가 안 잡힌다.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C++이면 PR 한 장으로 전체 로직 리뷰 가능.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51760" cy="246888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508760"/>
            <a:ext cx="384048" cy="38404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5179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</a:rPr>
              <a:t>AI 코딩 도구 연동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5848" y="235915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텍스트 기반 C++이어야 Copilot · Claude가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실질적으로 생산성을 올려준다.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2651760" cy="246888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508760"/>
            <a:ext cx="384048" cy="38404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15179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</a:rPr>
              <a:t>엔진 이해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0488" y="235915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블루프린트가 감추는 부분을 직접 짜봐야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엔진이 실제로 어떻게 돌아가는지 깊이 알 수 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4160520"/>
            <a:ext cx="8321040" cy="658368"/>
          </a:xfrm>
          <a:prstGeom prst="rect">
            <a:avLst/>
          </a:prstGeom>
          <a:solidFill>
            <a:srgbClr val="141428"/>
          </a:solidFill>
          <a:ln w="15240">
            <a:solidFill>
              <a:srgbClr val="FF2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062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2FD0"/>
                </a:solidFill>
              </a:rPr>
              <a:t>블루프린트 게임 로직 0%  —  모든 선택에는 이유가 있다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0FF"/>
                </a:solidFill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NEON DRIFT — 어떤 게임인가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572768"/>
            <a:ext cx="1463040" cy="475488"/>
          </a:xfrm>
          <a:prstGeom prst="rect">
            <a:avLst/>
          </a:prstGeom>
          <a:solidFill>
            <a:srgbClr val="141428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72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0F0FF"/>
                </a:solidFill>
              </a:rPr>
              <a:t>GATHER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55648" y="1810512"/>
            <a:ext cx="164592" cy="0"/>
          </a:xfrm>
          <a:prstGeom prst="line">
            <a:avLst/>
          </a:prstGeom>
          <a:noFill/>
          <a:ln w="19050">
            <a:solidFill>
              <a:srgbClr val="005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8528" y="1572768"/>
            <a:ext cx="1463040" cy="475488"/>
          </a:xfrm>
          <a:prstGeom prst="rect">
            <a:avLst/>
          </a:prstGeom>
          <a:solidFill>
            <a:srgbClr val="141428"/>
          </a:solidFill>
          <a:ln w="19050">
            <a:solidFill>
              <a:srgbClr val="FF2F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1572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2FD0"/>
                </a:solidFill>
              </a:rPr>
              <a:t>COMBAT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9856" y="1810512"/>
            <a:ext cx="164592" cy="0"/>
          </a:xfrm>
          <a:prstGeom prst="line">
            <a:avLst/>
          </a:prstGeom>
          <a:noFill/>
          <a:ln w="19050">
            <a:solidFill>
              <a:srgbClr val="005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1572768"/>
            <a:ext cx="1463040" cy="475488"/>
          </a:xfrm>
          <a:prstGeom prst="rect">
            <a:avLst/>
          </a:prstGeom>
          <a:solidFill>
            <a:srgbClr val="141428"/>
          </a:solidFill>
          <a:ln w="19050">
            <a:solidFill>
              <a:srgbClr val="A06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1572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A060FF"/>
                </a:solidFill>
              </a:rPr>
              <a:t>SHOP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84064" y="1810512"/>
            <a:ext cx="164592" cy="0"/>
          </a:xfrm>
          <a:prstGeom prst="line">
            <a:avLst/>
          </a:prstGeom>
          <a:noFill/>
          <a:ln w="19050">
            <a:solidFill>
              <a:srgbClr val="005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66944" y="1572768"/>
            <a:ext cx="1463040" cy="475488"/>
          </a:xfrm>
          <a:prstGeom prst="rect">
            <a:avLst/>
          </a:prstGeom>
          <a:solidFill>
            <a:srgbClr val="141428"/>
          </a:solidFill>
          <a:ln w="19050">
            <a:solidFill>
              <a:srgbClr val="9090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6944" y="1572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9090A8"/>
                </a:solidFill>
              </a:rPr>
              <a:t>×5 WAVES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48272" y="1810512"/>
            <a:ext cx="164592" cy="0"/>
          </a:xfrm>
          <a:prstGeom prst="line">
            <a:avLst/>
          </a:prstGeom>
          <a:noFill/>
          <a:ln w="19050">
            <a:solidFill>
              <a:srgbClr val="005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1152" y="1572768"/>
            <a:ext cx="1463040" cy="475488"/>
          </a:xfrm>
          <a:prstGeom prst="rect">
            <a:avLst/>
          </a:prstGeom>
          <a:solidFill>
            <a:srgbClr val="141428"/>
          </a:solidFill>
          <a:ln w="19050">
            <a:solidFill>
              <a:srgbClr val="40FF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1572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40FF80"/>
                </a:solidFill>
              </a:rPr>
              <a:t>VICTORY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2148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↺  5웨이브 루프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560320"/>
            <a:ext cx="2651760" cy="2176272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560320"/>
            <a:ext cx="2651760" cy="347472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GATHER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" y="29809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호버바이크 6DOF 비행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" y="3529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자원 블록 파괴 (Gold / Iron / Diamond)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자석 반경 내 부스러기 흡수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560320"/>
            <a:ext cx="2651760" cy="2176272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560320"/>
            <a:ext cx="2651760" cy="347472"/>
          </a:xfrm>
          <a:prstGeom prst="rect">
            <a:avLst/>
          </a:prstGeom>
          <a:solidFill>
            <a:srgbClr val="FF2FD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COMBAT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29809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2FD0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웨이브 디펜스 (5 waves)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5848" y="3529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2FD0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수동 터렛 탑승 · 자동 터렛 운용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55848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2FD0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최대 4방향 동시 스폰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2560320"/>
            <a:ext cx="2651760" cy="2176272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2560320"/>
            <a:ext cx="2651760" cy="347472"/>
          </a:xfrm>
          <a:prstGeom prst="rect">
            <a:avLst/>
          </a:prstGeom>
          <a:solidFill>
            <a:srgbClr val="A060FF"/>
          </a:solidFill>
          <a:ln w="12700">
            <a:solidFill>
              <a:srgbClr val="A06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SHOP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90488" y="29809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060FF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기체 강화 4종 + 터렛 강화 4종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0488" y="3529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060FF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자석 · 공격력 · 속도 · HP 등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0488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060FF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GameInstance로 영속화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41428"/>
          </a:solidFill>
          <a:ln w="12700">
            <a:solidFill>
              <a:srgbClr val="005A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00F0FF"/>
                </a:solidFill>
              </a:rPr>
              <a:t>5 웨이브  ·  최대 30마리  ·  4방향 동시 스폰  ·  8종 업그레이드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0FF"/>
                </a:solidFill>
              </a:rPr>
              <a:t>DEVELOPMENT PROCESS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3일 안에 어떻게 다 만들었나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8321040" cy="22860"/>
          </a:xfrm>
          <a:prstGeom prst="rect">
            <a:avLst/>
          </a:prstGeom>
          <a:solidFill>
            <a:srgbClr val="00F0FF">
              <a:alpha val="45000"/>
            </a:srgbClr>
          </a:solidFill>
          <a:ln w="12700">
            <a:solidFill>
              <a:srgbClr val="00F0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08760"/>
            <a:ext cx="1005840" cy="74980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</a:rPr>
              <a:t>DAY 1
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0D1A"/>
                </a:solidFill>
              </a:rPr>
              <a:t>기반 구축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1847088"/>
            <a:ext cx="274320" cy="457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508760"/>
            <a:ext cx="7040880" cy="749808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508760"/>
            <a:ext cx="6675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상태머신 설계 (7단계)</a:t>
            </a:r>
            <a:pPr indent="0" marL="0">
              <a:buNone/>
            </a:pPr>
            <a:r>
              <a:rPr lang="en-US" sz="1250" dirty="0">
                <a:solidFill>
                  <a:srgbClr val="9090A8"/>
                </a:solidFill>
              </a:rPr>
              <a:t>  ·  호버바이크 비행 물리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  ·  Enhanced Input 코드 생성</a:t>
            </a:r>
            <a:pPr indent="0" marL="0">
              <a:buNone/>
            </a:pPr>
            <a:r>
              <a:rPr lang="en-US" sz="1250" dirty="0">
                <a:solidFill>
                  <a:srgbClr val="9090A8"/>
                </a:solidFill>
              </a:rPr>
              <a:t>  ·  기본 발사 + IDamageable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532888"/>
            <a:ext cx="1005840" cy="749808"/>
          </a:xfrm>
          <a:prstGeom prst="rect">
            <a:avLst/>
          </a:prstGeom>
          <a:solidFill>
            <a:srgbClr val="FF2FD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3288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</a:rPr>
              <a:t>DAY 2
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0D1A"/>
                </a:solidFill>
              </a:rPr>
              <a:t>전투 시스템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17320" y="2871216"/>
            <a:ext cx="274320" cy="45720"/>
          </a:xfrm>
          <a:prstGeom prst="rect">
            <a:avLst/>
          </a:prstGeom>
          <a:solidFill>
            <a:srgbClr val="FF2FD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2532888"/>
            <a:ext cx="7040880" cy="749808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532888"/>
            <a:ext cx="6675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몬스터 스폰 + 웨이브 펌프</a:t>
            </a:r>
            <a:pPr indent="0" marL="0">
              <a:buNone/>
            </a:pPr>
            <a:r>
              <a:rPr lang="en-US" sz="1250" dirty="0">
                <a:solidFill>
                  <a:srgbClr val="9090A8"/>
                </a:solidFill>
              </a:rPr>
              <a:t>  ·  수동 / 자동 터렛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  ·  자원 블록 + 자석 시스템</a:t>
            </a:r>
            <a:pPr indent="0" marL="0">
              <a:buNone/>
            </a:pPr>
            <a:r>
              <a:rPr lang="en-US" sz="1250" dirty="0">
                <a:solidFill>
                  <a:srgbClr val="9090A8"/>
                </a:solidFill>
              </a:rPr>
              <a:t>  ·  Canvas HUD 기초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3557016"/>
            <a:ext cx="1005840" cy="749808"/>
          </a:xfrm>
          <a:prstGeom prst="rect">
            <a:avLst/>
          </a:prstGeom>
          <a:solidFill>
            <a:srgbClr val="A060FF"/>
          </a:solidFill>
          <a:ln w="12700">
            <a:solidFill>
              <a:srgbClr val="A06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5701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</a:rPr>
              <a:t>DAY 3
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0D1A"/>
                </a:solidFill>
              </a:rPr>
              <a:t>완성도 &amp; 폴리시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17320" y="3895344"/>
            <a:ext cx="274320" cy="45720"/>
          </a:xfrm>
          <a:prstGeom prst="rect">
            <a:avLst/>
          </a:prstGeom>
          <a:solidFill>
            <a:srgbClr val="A060FF"/>
          </a:solidFill>
          <a:ln w="12700">
            <a:solidFill>
              <a:srgbClr val="A06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3557016"/>
            <a:ext cx="7040880" cy="749808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3557016"/>
            <a:ext cx="6675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업그레이드 상점 (GameInstance)</a:t>
            </a:r>
            <a:pPr indent="0" marL="0">
              <a:buNone/>
            </a:pPr>
            <a:r>
              <a:rPr lang="en-US" sz="1250" dirty="0">
                <a:solidFill>
                  <a:srgbClr val="9090A8"/>
                </a:solidFill>
              </a:rPr>
              <a:t>  ·  Dynamic Material Instance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  ·  Niagara 트레일</a:t>
            </a:r>
            <a:pPr indent="0" marL="0">
              <a:buNone/>
            </a:pPr>
            <a:r>
              <a:rPr lang="en-US" sz="1250" dirty="0">
                <a:solidFill>
                  <a:srgbClr val="9090A8"/>
                </a:solidFill>
              </a:rPr>
              <a:t>  ·  속도 비례 FOV · 이중 크로스헤어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4160520"/>
            <a:ext cx="8321040" cy="658368"/>
          </a:xfrm>
          <a:prstGeom prst="rect">
            <a:avLst/>
          </a:prstGeom>
          <a:solidFill>
            <a:srgbClr val="141428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60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0FF"/>
                </a:solidFill>
              </a:rPr>
              <a:t>💡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 Mode로 클래스 다이어그램을 먼저 확정하고 코딩 시작</a:t>
            </a:r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  —  매일 빌드 검증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0FF"/>
                </a:solidFill>
              </a:rPr>
              <a:t>CORE IMPLEMENTATION  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프레임 독립 비행 물리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8321040" cy="22860"/>
          </a:xfrm>
          <a:prstGeom prst="rect">
            <a:avLst/>
          </a:prstGeom>
          <a:solidFill>
            <a:srgbClr val="00F0FF">
              <a:alpha val="45000"/>
            </a:srgbClr>
          </a:solidFill>
          <a:ln w="12700">
            <a:solidFill>
              <a:srgbClr val="00F0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81328"/>
            <a:ext cx="5029200" cy="3108960"/>
          </a:xfrm>
          <a:prstGeom prst="rect">
            <a:avLst/>
          </a:prstGeom>
          <a:solidFill>
            <a:srgbClr val="0A0A1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8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시간 기반 지수 감쇠 — 프레임레이트 독립
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</a:t>
            </a:r>
            <a:pPr indent="0" marL="0">
              <a:buNone/>
            </a:pPr>
            <a:r>
              <a:rPr lang="en-US" sz="11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Accel * InputDir * Dt;
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</a:t>
            </a:r>
            <a:pPr indent="0" marL="0">
              <a:buNone/>
            </a:pPr>
            <a:r>
              <a:rPr lang="en-US" sz="11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*=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FMath::</a:t>
            </a:r>
            <a:pPr indent="0" marL="0">
              <a:buNone/>
            </a:pPr>
            <a:r>
              <a:rPr lang="en-US" sz="110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(DragCoeff, Dt);  </a:t>
            </a:r>
            <a:pPr indent="0" marL="0">
              <a:buNone/>
            </a:pPr>
            <a:r>
              <a:rPr lang="en-US" sz="1100" b="1" dirty="0">
                <a:solidFill>
                  <a:srgbClr val="FF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핵심
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</a:t>
            </a:r>
            <a:pPr indent="0" marL="0">
              <a:buNone/>
            </a:pPr>
            <a:r>
              <a:rPr lang="en-US" sz="11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Velocity.</a:t>
            </a:r>
            <a:pPr indent="0" marL="0">
              <a:buNone/>
            </a:pPr>
            <a:r>
              <a:rPr lang="en-US" sz="110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GetClampedToMaxSize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(MaxSpeed);
</a:t>
            </a:r>
            <a:pPr indent="0" marL="0">
              <a:buNone/>
            </a:pPr>
            <a:r>
              <a:rPr lang="en-US" sz="110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AddActorWorldOffset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(Velocity * Dt, </a:t>
            </a:r>
            <a:pPr indent="0" marL="0">
              <a:buNone/>
            </a:pPr>
            <a:r>
              <a:rPr lang="en-US" sz="11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00" i="1" dirty="0">
                <a:solidFill>
                  <a:srgbClr val="5A8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속도 비례 FOV (70° → 110°)
</a:t>
            </a:r>
            <a:pPr indent="0" marL="0">
              <a:buNone/>
            </a:pPr>
            <a:r>
              <a:rPr lang="en-US" sz="11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</a:t>
            </a:r>
            <a:pPr indent="0" marL="0">
              <a:buNone/>
            </a:pPr>
            <a:r>
              <a:rPr lang="en-US" sz="11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Velocity.</a:t>
            </a:r>
            <a:pPr indent="0" marL="0">
              <a:buNone/>
            </a:pPr>
            <a:r>
              <a:rPr lang="en-US" sz="110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/ MaxSpeed;
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Camera-&gt;</a:t>
            </a:r>
            <a:pPr indent="0" marL="0">
              <a:buNone/>
            </a:pPr>
            <a:r>
              <a:rPr lang="en-US" sz="110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SetFieldOfView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(FMath::</a:t>
            </a:r>
            <a:pPr indent="0" marL="0">
              <a:buNone/>
            </a:pPr>
            <a:r>
              <a:rPr lang="en-US" sz="110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Lerp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70.f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110.f</a:t>
            </a:r>
            <a:pPr indent="0" marL="0">
              <a:buNone/>
            </a:pPr>
            <a:r>
              <a:rPr lang="en-US" sz="110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t));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77840" y="1481328"/>
            <a:ext cx="3154680" cy="141732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481328"/>
            <a:ext cx="64008" cy="1417320"/>
          </a:xfrm>
          <a:prstGeom prst="rect">
            <a:avLst/>
          </a:prstGeom>
          <a:solidFill>
            <a:srgbClr val="FF6060"/>
          </a:solidFill>
          <a:ln w="12700">
            <a:solidFill>
              <a:srgbClr val="FF6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*= 0.95f  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42432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60fps / 120fps에서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감쇠 속도 2배 차이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77840" y="3081528"/>
            <a:ext cx="3154680" cy="141732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3081528"/>
            <a:ext cx="64008" cy="1417320"/>
          </a:xfrm>
          <a:prstGeom prst="rect">
            <a:avLst/>
          </a:prstGeom>
          <a:solidFill>
            <a:srgbClr val="40FF80"/>
          </a:solidFill>
          <a:ln w="12700">
            <a:solidFill>
              <a:srgbClr val="40FF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F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*= Pow(DragCoeff, Dt)  ✅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42432" y="3703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항상 시간 기준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프레임 독립 보장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4700016"/>
            <a:ext cx="8321040" cy="384048"/>
          </a:xfrm>
          <a:prstGeom prst="rect">
            <a:avLst/>
          </a:prstGeom>
          <a:solidFill>
            <a:srgbClr val="141428"/>
          </a:solidFill>
          <a:ln w="6350">
            <a:solidFill>
              <a:srgbClr val="005A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70001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CharacterMovementComponent 없이 직접 적분  —  중력 0, Z축 약한 추가 감쇠로 자동 호버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0FF"/>
                </a:solidFill>
              </a:rPr>
              <a:t>CORE IMPLEMENTATION  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상태머신 &amp; Single Source of Truth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8321040" cy="22860"/>
          </a:xfrm>
          <a:prstGeom prst="rect">
            <a:avLst/>
          </a:prstGeom>
          <a:solidFill>
            <a:srgbClr val="00F0FF">
              <a:alpha val="45000"/>
            </a:srgbClr>
          </a:solidFill>
          <a:ln w="12700">
            <a:solidFill>
              <a:srgbClr val="00F0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81328"/>
            <a:ext cx="1737360" cy="530352"/>
          </a:xfrm>
          <a:prstGeom prst="rect">
            <a:avLst/>
          </a:prstGeom>
          <a:solidFill>
            <a:srgbClr val="141428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MainMenu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2011680"/>
            <a:ext cx="0" cy="201168"/>
          </a:xfrm>
          <a:prstGeom prst="line">
            <a:avLst/>
          </a:prstGeom>
          <a:noFill/>
          <a:ln w="19050">
            <a:solidFill>
              <a:srgbClr val="00F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84832"/>
            <a:ext cx="1737360" cy="530352"/>
          </a:xfrm>
          <a:prstGeom prst="rect">
            <a:avLst/>
          </a:prstGeom>
          <a:solidFill>
            <a:srgbClr val="141428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48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PreWave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25880" y="2615184"/>
            <a:ext cx="0" cy="201168"/>
          </a:xfrm>
          <a:prstGeom prst="line">
            <a:avLst/>
          </a:prstGeom>
          <a:noFill/>
          <a:ln w="19050">
            <a:solidFill>
              <a:srgbClr val="00F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88336"/>
            <a:ext cx="1737360" cy="530352"/>
          </a:xfrm>
          <a:prstGeom prst="rect">
            <a:avLst/>
          </a:prstGeom>
          <a:solidFill>
            <a:srgbClr val="141428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883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Gather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25880" y="3218688"/>
            <a:ext cx="0" cy="201168"/>
          </a:xfrm>
          <a:prstGeom prst="line">
            <a:avLst/>
          </a:prstGeom>
          <a:noFill/>
          <a:ln w="19050">
            <a:solidFill>
              <a:srgbClr val="00F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91840"/>
            <a:ext cx="1737360" cy="530352"/>
          </a:xfrm>
          <a:prstGeom prst="rect">
            <a:avLst/>
          </a:prstGeom>
          <a:solidFill>
            <a:srgbClr val="141428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Combat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25880" y="3822192"/>
            <a:ext cx="0" cy="201168"/>
          </a:xfrm>
          <a:prstGeom prst="line">
            <a:avLst/>
          </a:prstGeom>
          <a:noFill/>
          <a:ln w="19050">
            <a:solidFill>
              <a:srgbClr val="00F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95344"/>
            <a:ext cx="1737360" cy="530352"/>
          </a:xfrm>
          <a:prstGeom prst="rect">
            <a:avLst/>
          </a:prstGeom>
          <a:solidFill>
            <a:srgbClr val="141428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9534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Shop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25696"/>
            <a:ext cx="0" cy="-2944368"/>
          </a:xfrm>
          <a:prstGeom prst="line">
            <a:avLst/>
          </a:prstGeom>
          <a:noFill/>
          <a:ln w="12700">
            <a:solidFill>
              <a:srgbClr val="005A6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57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A60"/>
                </a:solidFill>
              </a:rPr>
              <a:t>↺ loop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2084832"/>
            <a:ext cx="1463040" cy="530352"/>
          </a:xfrm>
          <a:prstGeom prst="rect">
            <a:avLst/>
          </a:prstGeom>
          <a:solidFill>
            <a:srgbClr val="141428"/>
          </a:solidFill>
          <a:ln w="19050">
            <a:solidFill>
              <a:srgbClr val="40FF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08483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FF80"/>
                </a:solidFill>
              </a:rPr>
              <a:t>Victory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68880" y="3291840"/>
            <a:ext cx="1463040" cy="530352"/>
          </a:xfrm>
          <a:prstGeom prst="rect">
            <a:avLst/>
          </a:prstGeom>
          <a:solidFill>
            <a:srgbClr val="141428"/>
          </a:solidFill>
          <a:ln w="19050">
            <a:solidFill>
              <a:srgbClr val="FF6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329184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060"/>
                </a:solidFill>
              </a:rPr>
              <a:t>GameOver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94560" y="1783080"/>
            <a:ext cx="274320" cy="301752"/>
          </a:xfrm>
          <a:prstGeom prst="line">
            <a:avLst/>
          </a:prstGeom>
          <a:noFill/>
          <a:ln w="12700">
            <a:solidFill>
              <a:srgbClr val="5A5A78"/>
            </a:solidFill>
            <a:prstDash val="dot"/>
          </a:ln>
        </p:spPr>
      </p:sp>
      <p:sp>
        <p:nvSpPr>
          <p:cNvPr id="26" name="Shape 24"/>
          <p:cNvSpPr/>
          <p:nvPr/>
        </p:nvSpPr>
        <p:spPr>
          <a:xfrm>
            <a:off x="2194560" y="3557016"/>
            <a:ext cx="274320" cy="0"/>
          </a:xfrm>
          <a:prstGeom prst="line">
            <a:avLst/>
          </a:prstGeom>
          <a:noFill/>
          <a:ln w="12700">
            <a:solidFill>
              <a:srgbClr val="5A5A78"/>
            </a:solidFill>
            <a:prstDash val="dot"/>
          </a:ln>
        </p:spPr>
      </p:sp>
      <p:sp>
        <p:nvSpPr>
          <p:cNvPr id="27" name="Shape 25"/>
          <p:cNvSpPr/>
          <p:nvPr/>
        </p:nvSpPr>
        <p:spPr>
          <a:xfrm>
            <a:off x="4297680" y="1481328"/>
            <a:ext cx="4572000" cy="2953512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1627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</a:rPr>
              <a:t>GameMode-&gt;Phase 변수는 딱 하나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217627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모든 액터 (플레이어 · 몬스터 · 터렛 · UI) 가 이 변수를 참조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288950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중복 상태 변수 없음  →  상태 갈라짐 버그 구조적 차단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80560" y="36027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단일 파일에서 전이 흐름 추적 가능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4700016"/>
            <a:ext cx="8321040" cy="384048"/>
          </a:xfrm>
          <a:prstGeom prst="rect">
            <a:avLst/>
          </a:prstGeom>
          <a:solidFill>
            <a:srgbClr val="141428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0001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2FD0"/>
                </a:solidFill>
              </a:rPr>
              <a:t>프로토타입 규모에서 압도적으로 빠른 개발 속도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0FF"/>
                </a:solidFill>
              </a:rPr>
              <a:t>CORE IMPLEMENTATION  ③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타입 캐스팅 없는 데미지 시스템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8321040" cy="22860"/>
          </a:xfrm>
          <a:prstGeom prst="rect">
            <a:avLst/>
          </a:prstGeom>
          <a:solidFill>
            <a:srgbClr val="00F0FF">
              <a:alpha val="45000"/>
            </a:srgbClr>
          </a:solidFill>
          <a:ln w="12700">
            <a:solidFill>
              <a:srgbClr val="00F0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508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060"/>
                </a:solidFill>
              </a:rPr>
              <a:t>BEFORE  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801368"/>
            <a:ext cx="4114800" cy="1920240"/>
          </a:xfrm>
          <a:prstGeom prst="rect">
            <a:avLst/>
          </a:prstGeom>
          <a:solidFill>
            <a:srgbClr val="0A0A18"/>
          </a:solidFill>
          <a:ln w="9525">
            <a:solidFill>
              <a:srgbClr val="FF6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2024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(auto* M = Cast&lt;</a:t>
            </a:r>
            <a:pPr indent="0" marL="0">
              <a:buNone/>
            </a:pPr>
            <a:r>
              <a:rPr lang="en-US" sz="1050" dirty="0">
                <a:solidFill>
                  <a:srgbClr val="FF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AMonster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&gt;(Hit))
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M-&gt;</a:t>
            </a:r>
            <a:pPr indent="0" marL="0">
              <a:buNone/>
            </a:pPr>
            <a:r>
              <a:rPr lang="en-US" sz="105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TakeDamage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
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(auto* B = Cast&lt;</a:t>
            </a:r>
            <a:pPr indent="0" marL="0">
              <a:buNone/>
            </a:pPr>
            <a:r>
              <a:rPr lang="en-US" sz="1050" dirty="0">
                <a:solidFill>
                  <a:srgbClr val="FF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ABase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&gt;(Hit))
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B-&gt;</a:t>
            </a:r>
            <a:pPr indent="0" marL="0">
              <a:buNone/>
            </a:pPr>
            <a:r>
              <a:rPr lang="en-US" sz="105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TakeDamage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
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(auto* R = Cast&lt;</a:t>
            </a:r>
            <a:pPr indent="0" marL="0">
              <a:buNone/>
            </a:pPr>
            <a:r>
              <a:rPr lang="en-US" sz="1050" dirty="0">
                <a:solidFill>
                  <a:srgbClr val="FF2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AResourceBlock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&gt;(Hit))
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R-&gt;</a:t>
            </a:r>
            <a:pPr indent="0" marL="0">
              <a:buNone/>
            </a:pPr>
            <a:r>
              <a:rPr lang="en-US" sz="105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TakeDamage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
</a:t>
            </a:r>
            <a:pPr indent="0" marL="0">
              <a:buNone/>
            </a:pPr>
            <a:r>
              <a:rPr lang="en-US" sz="1050" i="1" dirty="0">
                <a:solidFill>
                  <a:srgbClr val="5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새 피격체 추가할 때마다 여기에 분기 추가...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840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0FF80"/>
                </a:solidFill>
              </a:rPr>
              <a:t>AFTER  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4133088"/>
            <a:ext cx="4114800" cy="841248"/>
          </a:xfrm>
          <a:prstGeom prst="rect">
            <a:avLst/>
          </a:prstGeom>
          <a:solidFill>
            <a:srgbClr val="0A0A18"/>
          </a:solidFill>
          <a:ln w="9525">
            <a:solidFill>
              <a:srgbClr val="40FF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24281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(Hit-&gt;</a:t>
            </a:r>
            <a:pPr indent="0" marL="0">
              <a:buNone/>
            </a:pPr>
            <a:r>
              <a:rPr lang="en-US" sz="105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UDamageable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&gt;())
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IDamageable::</a:t>
            </a:r>
            <a:pPr indent="0" marL="0">
              <a:buNone/>
            </a:pPr>
            <a:r>
              <a:rPr lang="en-US" sz="1050" dirty="0">
                <a:solidFill>
                  <a:srgbClr val="FF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Execute_TakeHit</a:t>
            </a:r>
            <a:pPr indent="0" marL="0">
              <a:buNone/>
            </a:pPr>
            <a:r>
              <a:rPr lang="en-US" sz="1050" dirty="0">
                <a:solidFill>
                  <a:srgbClr val="C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(Hit, Damage, AttackPower);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069080" cy="347472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08760"/>
            <a:ext cx="64008" cy="102412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0FF"/>
                </a:solidFill>
              </a:rPr>
              <a:t>UClass 단일 상속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19472" y="1920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추상 베이스 클래스 추가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인터페이스가 사실상 강제 선택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642616"/>
            <a:ext cx="64008" cy="102412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7066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0FF"/>
                </a:solidFill>
              </a:rPr>
              <a:t>인터페이스 = 정석 패턴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19472" y="305409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Implements&lt;&gt; + Execute_ 정적 호출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블루프린트 구현체에도 안전하게 동작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776472"/>
            <a:ext cx="64008" cy="102412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0FF"/>
                </a:solidFill>
              </a:rPr>
              <a:t>AttackerPower 게이트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19472" y="41879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RequiredPower에 못 미치면 데미지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업그레이드 동기 자연스럽게 유도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0FF"/>
                </a:solidFill>
              </a:rPr>
              <a:t>TROUBLESHOOTING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가장 어려웠던 것들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8321040" cy="22860"/>
          </a:xfrm>
          <a:prstGeom prst="rect">
            <a:avLst/>
          </a:prstGeom>
          <a:solidFill>
            <a:srgbClr val="FF2FD0">
              <a:alpha val="45000"/>
            </a:srgbClr>
          </a:solidFill>
          <a:ln w="12700">
            <a:solidFill>
              <a:srgbClr val="FF2FD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08760"/>
            <a:ext cx="2697480" cy="333756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2697480" cy="475488"/>
          </a:xfrm>
          <a:prstGeom prst="rect">
            <a:avLst/>
          </a:prstGeom>
          <a:solidFill>
            <a:srgbClr val="FF2FD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5087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1A"/>
                </a:solidFill>
              </a:rPr>
              <a:t>01  </a:t>
            </a:r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비행감 튜닝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060"/>
                </a:solidFill>
              </a:rPr>
              <a:t>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235915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중력 · 드래그 · Z감쇠 균형이 안 맞으면 미끄럽거나 뻣뻣함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3200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0FF80"/>
                </a:solidFill>
              </a:rPr>
              <a:t>SOLUTION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" y="34747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PIE 수십 회 반복. DragCoeff 0.92 → 0.96 사이 0.01 단위 조정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581144"/>
            <a:ext cx="2697480" cy="22860"/>
          </a:xfrm>
          <a:prstGeom prst="rect">
            <a:avLst/>
          </a:prstGeom>
          <a:solidFill>
            <a:srgbClr val="005A60"/>
          </a:solidFill>
          <a:ln w="12700">
            <a:solidFill>
              <a:srgbClr val="005A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F0FF"/>
                </a:solidFill>
              </a:rPr>
              <a:t>→ 물리 파라미터는 느낌의 문제 — 수치보다 체감이 정답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1508760"/>
            <a:ext cx="2697480" cy="333756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1508760"/>
            <a:ext cx="2697480" cy="475488"/>
          </a:xfrm>
          <a:prstGeom prst="rect">
            <a:avLst/>
          </a:prstGeom>
          <a:solidFill>
            <a:srgbClr val="FF2FD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15087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1A"/>
                </a:solidFill>
              </a:rPr>
              <a:t>02  </a:t>
            </a:r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UMG C++ 좌표 계산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74136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060"/>
                </a:solidFill>
              </a:rPr>
              <a:t>PROBLEM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74136" y="235915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에디터 미리보기 없이 모든 UI 위치를 코드로 계산해야 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4136" y="3200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0FF80"/>
                </a:solidFill>
              </a:rPr>
              <a:t>SOLUTION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4136" y="34747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앵커 + 오프셋 체계 이해 후, 공통 레이아웃 상수 추출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64408" y="4581144"/>
            <a:ext cx="2697480" cy="22860"/>
          </a:xfrm>
          <a:prstGeom prst="rect">
            <a:avLst/>
          </a:prstGeom>
          <a:solidFill>
            <a:srgbClr val="005A60"/>
          </a:solidFill>
          <a:ln w="12700">
            <a:solidFill>
              <a:srgbClr val="005A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F0FF"/>
                </a:solidFill>
              </a:rPr>
              <a:t>→ 느리지만 Git diff로 UI 변경이 잡히는 게 보상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17336" y="1508760"/>
            <a:ext cx="2697480" cy="333756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7336" y="1508760"/>
            <a:ext cx="2697480" cy="475488"/>
          </a:xfrm>
          <a:prstGeom prst="rect">
            <a:avLst/>
          </a:prstGeom>
          <a:solidFill>
            <a:srgbClr val="FF2FD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15087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1A"/>
                </a:solidFill>
              </a:rPr>
              <a:t>03  </a:t>
            </a:r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Enhanced Input 런타임 생성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27064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060"/>
                </a:solidFill>
              </a:rPr>
              <a:t>PROBLEM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27064" y="235915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NewObject로 IMC 생성 후 AddMappingContext 타이밍 오류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27064" y="3200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0FF80"/>
                </a:solidFill>
              </a:rPr>
              <a:t>SOLUTION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27064" y="34747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BeginPlay → AcknowledgedPawn 콜백 시점으로 이동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17336" y="4581144"/>
            <a:ext cx="2697480" cy="22860"/>
          </a:xfrm>
          <a:prstGeom prst="rect">
            <a:avLst/>
          </a:prstGeom>
          <a:solidFill>
            <a:srgbClr val="005A60"/>
          </a:solidFill>
          <a:ln w="12700">
            <a:solidFill>
              <a:srgbClr val="005A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F0FF"/>
                </a:solidFill>
              </a:rPr>
              <a:t>→ UE 초기화 순서를 이해하지 못하면 런타임 생성은 지뢰밭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0FF"/>
                </a:solidFill>
              </a:rPr>
              <a:t>FUTURE IMPROVEMENTS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더 한다면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8321040" cy="22860"/>
          </a:xfrm>
          <a:prstGeom prst="rect">
            <a:avLst/>
          </a:prstGeom>
          <a:solidFill>
            <a:srgbClr val="00F0FF">
              <a:alpha val="45000"/>
            </a:srgbClr>
          </a:solidFill>
          <a:ln w="12700">
            <a:solidFill>
              <a:srgbClr val="00F0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08760"/>
            <a:ext cx="4023360" cy="301752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4023360" cy="41148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50876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기술 개선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몬스터 AI 다양화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    직진 단일 패턴 → 플랭크 · 돌진 · 원거리 타입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651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보스 웨이브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    5웨이브 전용 대형 몬스터 + 다단계 HP바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291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절차적 자원 필드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    시드 기반 블록 배치로 매 판 다른 채취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StateTreeComponent 이관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    상태머신 커지면 enum+switch 한계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069080" cy="3017520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508760"/>
            <a:ext cx="4069080" cy="411480"/>
          </a:xfrm>
          <a:prstGeom prst="rect">
            <a:avLst/>
          </a:prstGeom>
          <a:solidFill>
            <a:srgbClr val="A060FF"/>
          </a:solidFill>
          <a:ln w="12700">
            <a:solidFill>
              <a:srgbClr val="A06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코드 품질 / 확장성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18888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060FF"/>
                </a:solidFill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데이터 테이블 기반 밸런싱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    하드코딩 수치 → CSV / DataTable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2651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060FF"/>
                </a:solidFill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멀티플레이어 기초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    Replication 구조 도입 가능성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3291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060FF"/>
                </a:solidFill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에디터 미리보기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    일부 UI는 위젯 블루프린트로 전환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888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060FF"/>
                </a:solidFill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리매핑 UI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    키 바인딩 설정 화면 추가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4700016"/>
            <a:ext cx="8321040" cy="384048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70001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90A8"/>
                </a:solidFill>
              </a:rPr>
              <a:t>블루프린트 0%는 이 프로젝트의 의도된 트레이드오프  —  상용 프로젝트라면 다른 선택을 할 수도 있다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NEON DRIFT — 3일이 남긴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3977640" cy="1298448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397764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</a:rPr>
              <a:t>프레임 독립 물리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2821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Pow(DragCoeff, Dt)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패턴으로 FPS 무관 감쇠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977640" cy="1298448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43000"/>
            <a:ext cx="3977640" cy="54864"/>
          </a:xfrm>
          <a:prstGeom prst="rect">
            <a:avLst/>
          </a:prstGeom>
          <a:solidFill>
            <a:srgbClr val="FF2FD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075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FD0"/>
                </a:solidFill>
              </a:rPr>
              <a:t>Single Source of Truth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72821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GameMode 단일 페이즈 변수로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상태 버그 구조적 차단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624328"/>
            <a:ext cx="3977640" cy="1298448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624328"/>
            <a:ext cx="3977640" cy="54864"/>
          </a:xfrm>
          <a:prstGeom prst="rect">
            <a:avLst/>
          </a:prstGeom>
          <a:solidFill>
            <a:srgbClr val="A060FF"/>
          </a:solidFill>
          <a:ln w="12700">
            <a:solidFill>
              <a:srgbClr val="A06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889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60FF"/>
                </a:solidFill>
              </a:rPr>
              <a:t>인터페이스 다형성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0954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IDamageable로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타입 캐스팅 없는 데미지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624328"/>
            <a:ext cx="3977640" cy="1298448"/>
          </a:xfrm>
          <a:prstGeom prst="rect">
            <a:avLst/>
          </a:prstGeom>
          <a:solidFill>
            <a:srgbClr val="141428"/>
          </a:solidFill>
          <a:ln w="9525">
            <a:solidFill>
              <a:srgbClr val="005A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624328"/>
            <a:ext cx="3977640" cy="54864"/>
          </a:xfrm>
          <a:prstGeom prst="rect">
            <a:avLst/>
          </a:prstGeom>
          <a:solidFill>
            <a:srgbClr val="40FF80"/>
          </a:solidFill>
          <a:ln w="12700">
            <a:solidFill>
              <a:srgbClr val="40FF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7889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FF80"/>
                </a:solidFill>
              </a:rPr>
              <a:t>코드 100%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20954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버전 관리 · AI 도구 · 깊은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엔진 이해 세 마리 토끼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00F0FF"/>
                </a:solidFill>
              </a:rPr>
              <a:t>질문 받겠습니다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5A5A78"/>
                </a:solidFill>
              </a:rPr>
              <a:t>github.com/iamfreakin  ·  UE 5.8  ·  C++20  ·  3-Day Sprint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NEON DRIFT 발표</dc:title>
  <dc:subject>PptxGenJS Presentation</dc:subject>
  <dc:creator>PptxGenJS</dc:creator>
  <cp:lastModifiedBy>PptxGenJS</cp:lastModifiedBy>
  <cp:revision>1</cp:revision>
  <dcterms:created xsi:type="dcterms:W3CDTF">2026-05-27T02:03:35Z</dcterms:created>
  <dcterms:modified xsi:type="dcterms:W3CDTF">2026-05-27T02:03:35Z</dcterms:modified>
</cp:coreProperties>
</file>